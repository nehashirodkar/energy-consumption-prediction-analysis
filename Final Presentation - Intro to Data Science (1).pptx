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6" r:id="rId1"/>
  </p:sldMasterIdLst>
  <p:notesMasterIdLst>
    <p:notesMasterId r:id="rId24"/>
  </p:notesMasterIdLst>
  <p:sldIdLst>
    <p:sldId id="256" r:id="rId2"/>
    <p:sldId id="258" r:id="rId3"/>
    <p:sldId id="257" r:id="rId4"/>
    <p:sldId id="259" r:id="rId5"/>
    <p:sldId id="285" r:id="rId6"/>
    <p:sldId id="260" r:id="rId7"/>
    <p:sldId id="263" r:id="rId8"/>
    <p:sldId id="286" r:id="rId9"/>
    <p:sldId id="283" r:id="rId10"/>
    <p:sldId id="284" r:id="rId11"/>
    <p:sldId id="264" r:id="rId12"/>
    <p:sldId id="265" r:id="rId13"/>
    <p:sldId id="267" r:id="rId14"/>
    <p:sldId id="281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80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4B9F2-9CC1-3FE7-7EC6-823F02A88608}" v="2" dt="2024-12-06T03:11:53.347"/>
    <p1510:client id="{479DA74F-4783-5521-6D20-6F67552BED32}" v="24" dt="2024-12-06T02:55:24.344"/>
    <p1510:client id="{A7916F27-05E2-1E86-CED4-7B472057E3F5}" v="537" dt="2024-12-06T03:09:41.991"/>
    <p1510:client id="{B634CB3E-FF4F-E790-E53B-26931487F062}" v="24" dt="2024-12-04T16:50:32.869"/>
    <p1510:client id="{BD8BC461-7480-A408-CE00-77E7B8839775}" v="3" dt="2024-12-06T02:06:01.418"/>
    <p1510:client id="{D15D6458-93DD-4B4E-5AF6-5E7A0779ADD0}" v="185" dt="2024-12-06T00:49:39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18fe920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18fe920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32282df8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32282df8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18fe920e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18fe920e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34cf32372_2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34cf32372_2_1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491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32282df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32282df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32282df8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32282df8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32282df8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32282df8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58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32282df8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32282df8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346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32282df8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32282df8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41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34cf32372_2_1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34cf32372_2_1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32282df8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32282df8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34cf32372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34cf32372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34cf32372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34cf32372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908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32282df8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32282df83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18fe920e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18fe920e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34cf32372_2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34cf32372_2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34cf32372_2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a34cf32372_2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a34cf32372_2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a34cf32372_2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18fe920e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18fe920e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34cf3237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34cf32372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a34cf32372_2_1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a34cf32372_2_1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29884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57058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97765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754340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83111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40669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913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85207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23473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67334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33484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9644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59409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289923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5172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254744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913179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09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8180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09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303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  <p:sldLayoutId id="2147483854" r:id="rId18"/>
    <p:sldLayoutId id="2147483855" r:id="rId19"/>
    <p:sldLayoutId id="2147483856" r:id="rId20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461745" y="1077394"/>
            <a:ext cx="8227234" cy="19345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sz="4000" b="1"/>
              <a:t>Energy Consumption Analysis</a:t>
            </a:r>
            <a:endParaRPr lang="en-US" sz="4000" b="1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212406" y="1986804"/>
            <a:ext cx="6517482" cy="1028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" sz="1300">
                <a:solidFill>
                  <a:schemeClr val="tx1"/>
                </a:solidFill>
              </a:rPr>
              <a:t>- </a:t>
            </a:r>
            <a:r>
              <a:rPr lang="en" sz="1600">
                <a:solidFill>
                  <a:schemeClr val="tx1"/>
                </a:solidFill>
              </a:rPr>
              <a:t>Purtee BHISE, NEELAM </a:t>
            </a:r>
            <a:r>
              <a:rPr lang="en-US" sz="1600">
                <a:solidFill>
                  <a:schemeClr val="tx1"/>
                </a:solidFill>
              </a:rPr>
              <a:t>Gujar</a:t>
            </a:r>
            <a:r>
              <a:rPr lang="en" sz="1600">
                <a:solidFill>
                  <a:schemeClr val="tx1"/>
                </a:solidFill>
              </a:rPr>
              <a:t>, NEHA SHIRODKAR</a:t>
            </a:r>
            <a:endParaRPr 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1441250" y="1351900"/>
            <a:ext cx="1738500" cy="16395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House Data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702750" y="1351900"/>
            <a:ext cx="1738500" cy="16395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Weather Data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964250" y="1351900"/>
            <a:ext cx="1738500" cy="16395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Energy Data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 rot="16200000" flipH="1">
            <a:off x="5379198" y="2192500"/>
            <a:ext cx="685800" cy="2283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15"/>
          <p:cNvCxnSpPr/>
          <p:nvPr/>
        </p:nvCxnSpPr>
        <p:spPr>
          <a:xfrm rot="16200000">
            <a:off x="3095900" y="2192500"/>
            <a:ext cx="685800" cy="2283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1" name="Google Shape;91;p15"/>
          <p:cNvSpPr txBox="1"/>
          <p:nvPr/>
        </p:nvSpPr>
        <p:spPr>
          <a:xfrm>
            <a:off x="2174573" y="3471051"/>
            <a:ext cx="4668929" cy="126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1150">
              <a:buClr>
                <a:schemeClr val="dk2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Included July data only (highest energy usage month)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Every house contains energy and weather information for each hour of July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indent="-311150">
              <a:buClr>
                <a:schemeClr val="dk2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Aggregated the data by day for modeling.</a:t>
            </a:r>
          </a:p>
          <a:p>
            <a:pPr marL="457200" indent="-311150">
              <a:buClr>
                <a:schemeClr val="dk2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</a:rPr>
              <a:t>Predicted and analyzed the data.</a:t>
            </a:r>
          </a:p>
          <a:p>
            <a:pPr marL="457200" indent="-311150">
              <a:buClr>
                <a:schemeClr val="dk2"/>
              </a:buClr>
              <a:buSzPts val="1300"/>
              <a:buFont typeface="Nunito"/>
              <a:buChar char="●"/>
            </a:pPr>
            <a:endParaRPr lang="en" sz="1300">
              <a:solidFill>
                <a:schemeClr val="dk2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11700" y="311774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" b="1">
                <a:latin typeface="Gill Sans MT"/>
              </a:rPr>
              <a:t>Data EXPLORATION:</a:t>
            </a:r>
            <a:endParaRPr b="1">
              <a:latin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4489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2757741" y="619359"/>
            <a:ext cx="3879300" cy="38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14"/>
          <p:cNvGrpSpPr/>
          <p:nvPr/>
        </p:nvGrpSpPr>
        <p:grpSpPr>
          <a:xfrm>
            <a:off x="3485571" y="313896"/>
            <a:ext cx="2166000" cy="2166000"/>
            <a:chOff x="3614360" y="410488"/>
            <a:chExt cx="2166000" cy="2166000"/>
          </a:xfrm>
        </p:grpSpPr>
        <p:sp>
          <p:nvSpPr>
            <p:cNvPr id="70" name="Google Shape;70;p14"/>
            <p:cNvSpPr/>
            <p:nvPr/>
          </p:nvSpPr>
          <p:spPr>
            <a:xfrm>
              <a:off x="3614360" y="410488"/>
              <a:ext cx="2166000" cy="2166000"/>
            </a:xfrm>
            <a:prstGeom prst="ellipse">
              <a:avLst/>
            </a:prstGeom>
            <a:solidFill>
              <a:srgbClr val="0B77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3768380" y="827760"/>
              <a:ext cx="1866368" cy="1218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Understand historical energy usage and affecting factors</a:t>
              </a:r>
              <a:endParaRPr lang="en-US" sz="1400" b="1">
                <a:solidFill>
                  <a:srgbClr val="FFFFFF"/>
                </a:solidFill>
                <a:latin typeface="Lato"/>
                <a:ea typeface="Lato"/>
                <a:cs typeface="Lato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2173347" y="1751485"/>
            <a:ext cx="2166000" cy="2166000"/>
            <a:chOff x="2519466" y="1493908"/>
            <a:chExt cx="2166000" cy="2166000"/>
          </a:xfrm>
        </p:grpSpPr>
        <p:sp>
          <p:nvSpPr>
            <p:cNvPr id="73" name="Google Shape;73;p14"/>
            <p:cNvSpPr/>
            <p:nvPr/>
          </p:nvSpPr>
          <p:spPr>
            <a:xfrm>
              <a:off x="2519466" y="1493908"/>
              <a:ext cx="2166000" cy="2166000"/>
            </a:xfrm>
            <a:prstGeom prst="ellipse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2601163" y="1592450"/>
              <a:ext cx="1858318" cy="1886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Provide recommendations on how to reduce overall energy usage</a:t>
              </a:r>
              <a:endParaRPr lang="en-US" sz="1400" b="1">
                <a:solidFill>
                  <a:srgbClr val="FFFFFF"/>
                </a:solidFill>
                <a:latin typeface="Lato"/>
                <a:ea typeface="Lato"/>
                <a:cs typeface="Lato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4967521" y="1751451"/>
            <a:ext cx="2166000" cy="2166000"/>
            <a:chOff x="4701894" y="1493874"/>
            <a:chExt cx="2166000" cy="2166000"/>
          </a:xfrm>
        </p:grpSpPr>
        <p:sp>
          <p:nvSpPr>
            <p:cNvPr id="79" name="Google Shape;79;p14"/>
            <p:cNvSpPr/>
            <p:nvPr/>
          </p:nvSpPr>
          <p:spPr>
            <a:xfrm>
              <a:off x="4701894" y="1493874"/>
              <a:ext cx="2166000" cy="2166000"/>
            </a:xfrm>
            <a:prstGeom prst="ellipse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4933471" y="1833934"/>
              <a:ext cx="1858317" cy="1628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Predict next year’s energy usage based on increased temperatures</a:t>
              </a:r>
              <a:endParaRPr lang="en-US" sz="1400" b="1">
                <a:solidFill>
                  <a:srgbClr val="FFFFFF"/>
                </a:solidFill>
                <a:latin typeface="Lato"/>
                <a:ea typeface="Lato"/>
                <a:cs typeface="Lato"/>
              </a:endParaRPr>
            </a:p>
          </p:txBody>
        </p:sp>
      </p:grpSp>
      <p:sp>
        <p:nvSpPr>
          <p:cNvPr id="81" name="Google Shape;81;p14"/>
          <p:cNvSpPr/>
          <p:nvPr/>
        </p:nvSpPr>
        <p:spPr>
          <a:xfrm>
            <a:off x="4084680" y="1946241"/>
            <a:ext cx="1225800" cy="1225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11700" y="210496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ill Sans MT"/>
              </a:rPr>
              <a:t>Map of City Energy Usage:</a:t>
            </a:r>
            <a:endParaRPr b="1">
              <a:latin typeface="Gill Sans MT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97516" y="754898"/>
            <a:ext cx="8744417" cy="911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" sz="1400" cap="none">
                <a:latin typeface="Times New Roman"/>
                <a:ea typeface="+mn-lt"/>
                <a:cs typeface="Times New Roman"/>
              </a:rPr>
              <a:t>The</a:t>
            </a:r>
            <a:r>
              <a:rPr lang="en" sz="1400" cap="none">
                <a:latin typeface="Times New Roman"/>
                <a:cs typeface="Times New Roman"/>
              </a:rPr>
              <a:t> data is collected from major cities in South Carolina such as Charleston, Myrtle Beach, Hilton Head, etc.</a:t>
            </a:r>
            <a:endParaRPr lang="en-US" sz="1400" cap="none">
              <a:latin typeface="Times New Roman"/>
              <a:cs typeface="Times New Roman"/>
            </a:endParaRPr>
          </a:p>
          <a:p>
            <a:pPr marL="285750" lvl="0" indent="-285750" algn="l" rtl="0">
              <a:spcBef>
                <a:spcPts val="1200"/>
              </a:spcBef>
              <a:spcAft>
                <a:spcPts val="1200"/>
              </a:spcAft>
              <a:buFont typeface="Wingdings" panose="020B0604020202020204" pitchFamily="34" charset="0"/>
              <a:buChar char="Ø"/>
            </a:pPr>
            <a:r>
              <a:rPr lang="en" sz="1400" cap="none">
                <a:latin typeface="Times New Roman"/>
                <a:cs typeface="Times New Roman"/>
              </a:rPr>
              <a:t> The cities with the highest energy usage include Goose Creek and North Charleston.</a:t>
            </a:r>
          </a:p>
        </p:txBody>
      </p:sp>
      <p:grpSp>
        <p:nvGrpSpPr>
          <p:cNvPr id="99" name="Google Shape;99;p16"/>
          <p:cNvGrpSpPr/>
          <p:nvPr/>
        </p:nvGrpSpPr>
        <p:grpSpPr>
          <a:xfrm>
            <a:off x="2861668" y="1879675"/>
            <a:ext cx="2786273" cy="1531239"/>
            <a:chOff x="1768675" y="1381025"/>
            <a:chExt cx="2372875" cy="1807100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2042150" y="1381025"/>
              <a:ext cx="2099400" cy="709900"/>
              <a:chOff x="2042150" y="1381025"/>
              <a:chExt cx="2099400" cy="709900"/>
            </a:xfrm>
          </p:grpSpPr>
          <p:pic>
            <p:nvPicPr>
              <p:cNvPr id="102" name="Google Shape;102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910100" y="1925600"/>
                <a:ext cx="231450" cy="1653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" name="Google Shape;10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042150" y="1381025"/>
                <a:ext cx="231450" cy="1653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" name="Google Shape;104;p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011250" y="1714575"/>
                <a:ext cx="231450" cy="1759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5" name="Google Shape;105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68675" y="3102200"/>
              <a:ext cx="237200" cy="859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A map of the state of south carolina with green dots&#10;&#10;Description automatically generated">
            <a:extLst>
              <a:ext uri="{FF2B5EF4-FFF2-40B4-BE49-F238E27FC236}">
                <a16:creationId xmlns:a16="http://schemas.microsoft.com/office/drawing/2014/main" id="{66D56C15-FB29-40BD-4762-2CC67CA49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58" y="1524000"/>
            <a:ext cx="7817183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134870" y="103127"/>
            <a:ext cx="8871625" cy="8516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Seaford" panose="00000500000000000000" pitchFamily="2" charset="0"/>
              </a:rPr>
              <a:t>variables Having most impact on energy usage:</a:t>
            </a:r>
            <a:endParaRPr sz="2400" b="1">
              <a:latin typeface="Seaford" panose="00000500000000000000" pitchFamily="2" charset="0"/>
            </a:endParaRPr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1"/>
          </p:nvPr>
        </p:nvSpPr>
        <p:spPr>
          <a:xfrm>
            <a:off x="40942" y="1141746"/>
            <a:ext cx="8871624" cy="878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We determined </a:t>
            </a:r>
            <a:r>
              <a:rPr lang="en-US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variables relating to house data that had a significant impact on energy usage that we can use in our model.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5582891" y="2571750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Wall Type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231434" y="3319547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Type of Insulation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231434" y="2571750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Roof Material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5583979" y="3319547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Light Type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931E0-05F5-573A-5EEE-571B50736A56}"/>
              </a:ext>
            </a:extLst>
          </p:cNvPr>
          <p:cNvSpPr txBox="1"/>
          <p:nvPr/>
        </p:nvSpPr>
        <p:spPr>
          <a:xfrm>
            <a:off x="543140" y="2069432"/>
            <a:ext cx="210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</p:txBody>
      </p:sp>
      <p:sp>
        <p:nvSpPr>
          <p:cNvPr id="6" name="Google Shape;154;p23">
            <a:extLst>
              <a:ext uri="{FF2B5EF4-FFF2-40B4-BE49-F238E27FC236}">
                <a16:creationId xmlns:a16="http://schemas.microsoft.com/office/drawing/2014/main" id="{DAA82A64-4E56-D988-385D-C159A6A18066}"/>
              </a:ext>
            </a:extLst>
          </p:cNvPr>
          <p:cNvSpPr/>
          <p:nvPr/>
        </p:nvSpPr>
        <p:spPr>
          <a:xfrm>
            <a:off x="231433" y="4064667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</a:rPr>
              <a:t>No. Of Bedrooms</a:t>
            </a:r>
          </a:p>
        </p:txBody>
      </p:sp>
      <p:sp>
        <p:nvSpPr>
          <p:cNvPr id="7" name="Google Shape;154;p23">
            <a:extLst>
              <a:ext uri="{FF2B5EF4-FFF2-40B4-BE49-F238E27FC236}">
                <a16:creationId xmlns:a16="http://schemas.microsoft.com/office/drawing/2014/main" id="{DBC7D7F9-B359-D073-EE79-1D3DBDD9B357}"/>
              </a:ext>
            </a:extLst>
          </p:cNvPr>
          <p:cNvSpPr/>
          <p:nvPr/>
        </p:nvSpPr>
        <p:spPr>
          <a:xfrm>
            <a:off x="5584725" y="4064667"/>
            <a:ext cx="3178800" cy="4425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</a:rPr>
              <a:t>Solar Panels</a:t>
            </a:r>
          </a:p>
        </p:txBody>
      </p:sp>
    </p:spTree>
    <p:extLst>
      <p:ext uri="{BB962C8B-B14F-4D97-AF65-F5344CB8AC3E}">
        <p14:creationId xmlns:p14="http://schemas.microsoft.com/office/powerpoint/2010/main" val="302143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eaford" panose="020F0502020204030204" pitchFamily="2" charset="0"/>
              </a:rPr>
              <a:t>Energy Usage Pattern – Historical Data:</a:t>
            </a:r>
            <a:endParaRPr b="1">
              <a:latin typeface="Seaford" panose="020F0502020204030204" pitchFamily="2" charset="0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00" y="1153025"/>
            <a:ext cx="7850600" cy="3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273600" y="21990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>
                <a:latin typeface="Seaford" panose="00000500000000000000" pitchFamily="2" charset="0"/>
              </a:rPr>
              <a:t>Number of Bedrooms &amp; Energy:</a:t>
            </a:r>
            <a:endParaRPr sz="2400" b="1">
              <a:latin typeface="Seaford" panose="00000500000000000000" pitchFamily="2" charset="0"/>
            </a:endParaRPr>
          </a:p>
        </p:txBody>
      </p:sp>
      <p:pic>
        <p:nvPicPr>
          <p:cNvPr id="2" name="Picture 1" descr="A graph of a number of red squares&#10;&#10;Description automatically generated">
            <a:extLst>
              <a:ext uri="{FF2B5EF4-FFF2-40B4-BE49-F238E27FC236}">
                <a16:creationId xmlns:a16="http://schemas.microsoft.com/office/drawing/2014/main" id="{C6ADFE44-0C14-E75A-9DE6-58574D44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01" y="847725"/>
            <a:ext cx="8510148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273600" y="21990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SzPts val="990"/>
            </a:pPr>
            <a:r>
              <a:rPr lang="en" sz="2400" b="1">
                <a:latin typeface="Seaford"/>
              </a:rPr>
              <a:t>Type of insulation &amp; Energy:</a:t>
            </a:r>
            <a:endParaRPr lang="en-US" sz="2400" b="1">
              <a:latin typeface="Seafor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49F3F-DB85-8A7E-0F2E-A9D1C1D9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6" y="716386"/>
            <a:ext cx="8882917" cy="424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8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263404" y="198167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SzPts val="990"/>
            </a:pPr>
            <a:r>
              <a:rPr lang="en-US" sz="2400" b="1">
                <a:latin typeface="Seaford"/>
              </a:rPr>
              <a:t>Type of Lightning &amp; Energy:</a:t>
            </a:r>
          </a:p>
        </p:txBody>
      </p:sp>
      <p:pic>
        <p:nvPicPr>
          <p:cNvPr id="5" name="Picture 4" descr="A chart of lighting with yellow rectangles&#10;&#10;Description automatically generated">
            <a:extLst>
              <a:ext uri="{FF2B5EF4-FFF2-40B4-BE49-F238E27FC236}">
                <a16:creationId xmlns:a16="http://schemas.microsoft.com/office/drawing/2014/main" id="{7AAF4586-69B9-D4EC-64A7-03E857FB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00" y="708336"/>
            <a:ext cx="8624601" cy="421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3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295601" y="246463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SzPts val="990"/>
            </a:pPr>
            <a:r>
              <a:rPr lang="en-US" sz="2400" b="1">
                <a:latin typeface="Seaford"/>
              </a:rPr>
              <a:t>Type of house walls &amp; Energy: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DA084-B5E4-1EAE-A7B6-79B712FF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66" y="869323"/>
            <a:ext cx="8632162" cy="40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110002" y="191969"/>
            <a:ext cx="8793365" cy="6468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>
                <a:latin typeface="Seaford" panose="00000500000000000000" pitchFamily="2" charset="0"/>
              </a:rPr>
              <a:t>Energy Consumption based on Roof Material:</a:t>
            </a:r>
            <a:endParaRPr sz="2400" b="1">
              <a:latin typeface="Seafor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BE26CD-396E-5609-F70A-22C885AB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8" y="838200"/>
            <a:ext cx="87915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71068" y="126825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>
                <a:latin typeface="Seaford" panose="00000500000000000000" pitchFamily="2" charset="0"/>
              </a:rPr>
              <a:t>Average Energy Consumption v/s Income:</a:t>
            </a:r>
            <a:endParaRPr sz="2400" b="1">
              <a:latin typeface="Seaford" panose="00000500000000000000" pitchFamily="2" charset="0"/>
            </a:endParaRPr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71153" y="584409"/>
            <a:ext cx="8729470" cy="9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400" cap="none">
                <a:latin typeface="Times New Roman"/>
                <a:cs typeface="Times New Roman"/>
              </a:rPr>
              <a:t>The household income range is generally directly proportional to the use of energy; however it does depend on other factors as well.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DEC46-7489-FE85-8B38-6C1ED0662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8" y="1266825"/>
            <a:ext cx="8645525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265499" y="110999"/>
            <a:ext cx="8563925" cy="707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Seaford" panose="00000500000000000000" pitchFamily="2" charset="0"/>
              </a:rPr>
              <a:t>Model Selected: Linear Regression</a:t>
            </a:r>
            <a:endParaRPr sz="2400" b="1">
              <a:latin typeface="Seaford" panose="00000500000000000000" pitchFamily="2" charset="0"/>
            </a:endParaRPr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257253" y="959762"/>
            <a:ext cx="8630045" cy="28981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cap="none">
                <a:solidFill>
                  <a:schemeClr val="tx1"/>
                </a:solidFill>
                <a:latin typeface="Times New Roman"/>
                <a:cs typeface="Times New Roman"/>
              </a:rPr>
              <a:t>We can predict </a:t>
            </a:r>
            <a:r>
              <a:rPr lang="en-US" sz="2000" cap="none">
                <a:solidFill>
                  <a:schemeClr val="tx1"/>
                </a:solidFill>
                <a:latin typeface="Times New Roman"/>
                <a:ea typeface="Lato Black"/>
                <a:cs typeface="Times New Roman"/>
                <a:sym typeface="Lato Black"/>
              </a:rPr>
              <a:t>74.75%</a:t>
            </a:r>
            <a:r>
              <a:rPr lang="en-US" sz="2000" cap="none">
                <a:solidFill>
                  <a:schemeClr val="tx1"/>
                </a:solidFill>
                <a:latin typeface="Times New Roman"/>
                <a:cs typeface="Times New Roman"/>
              </a:rPr>
              <a:t> of the change in energy usage using daily temperature and house information data.</a:t>
            </a: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387F31CA-B5BD-54B7-448A-AD4D4AFF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334" y="2574161"/>
            <a:ext cx="5495925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265499" y="110999"/>
            <a:ext cx="8563925" cy="707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" sz="2400" b="1">
                <a:latin typeface="Seaford"/>
              </a:rPr>
              <a:t>Model : Decision Tree</a:t>
            </a:r>
            <a:endParaRPr sz="2400" b="1">
              <a:latin typeface="Seaford"/>
            </a:endParaRPr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265302" y="822313"/>
            <a:ext cx="8589799" cy="30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cap="none">
                <a:solidFill>
                  <a:schemeClr val="tx1"/>
                </a:solidFill>
                <a:latin typeface="Times New Roman"/>
                <a:cs typeface="Times New Roman"/>
              </a:rPr>
              <a:t>We can predict </a:t>
            </a:r>
            <a:r>
              <a:rPr lang="en-US" sz="2000" cap="none">
                <a:solidFill>
                  <a:schemeClr val="tx1"/>
                </a:solidFill>
                <a:latin typeface="Times New Roman"/>
                <a:ea typeface="Lato Black"/>
                <a:cs typeface="Times New Roman"/>
                <a:sym typeface="Lato Black"/>
              </a:rPr>
              <a:t>72.83%</a:t>
            </a:r>
            <a:r>
              <a:rPr lang="en-US" sz="2000" cap="none">
                <a:solidFill>
                  <a:schemeClr val="tx1"/>
                </a:solidFill>
                <a:latin typeface="Times New Roman"/>
                <a:cs typeface="Times New Roman"/>
              </a:rPr>
              <a:t> of the change in energy usage using daily temperature and house information data.</a:t>
            </a: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lang="en-US" sz="2000" cap="none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71013BC-AD43-926B-E924-D14A2A2DF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727" y="2569269"/>
            <a:ext cx="50482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59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191050" y="23260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Seaford" panose="00000500000000000000" pitchFamily="2" charset="0"/>
              </a:rPr>
              <a:t>Predicted Total Energy Usage:</a:t>
            </a:r>
            <a:endParaRPr sz="2400" b="1">
              <a:latin typeface="Seaford" panose="00000500000000000000" pitchFamily="2" charset="0"/>
            </a:endParaRPr>
          </a:p>
        </p:txBody>
      </p:sp>
      <p:pic>
        <p:nvPicPr>
          <p:cNvPr id="3" name="Picture 2" descr="A graph showing the price of energy consumption&#10;&#10;Description automatically generated">
            <a:extLst>
              <a:ext uri="{FF2B5EF4-FFF2-40B4-BE49-F238E27FC236}">
                <a16:creationId xmlns:a16="http://schemas.microsoft.com/office/drawing/2014/main" id="{3D77D9B2-B14B-16E8-90F3-84382A456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31" y="857250"/>
            <a:ext cx="8729188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title"/>
          </p:nvPr>
        </p:nvSpPr>
        <p:spPr>
          <a:xfrm>
            <a:off x="311700" y="199785"/>
            <a:ext cx="8520600" cy="660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Seaford" panose="00000500000000000000" pitchFamily="2" charset="0"/>
                <a:sym typeface="Lato"/>
              </a:rPr>
              <a:t>Shiny Application:</a:t>
            </a:r>
            <a:endParaRPr sz="2400" b="1">
              <a:latin typeface="Seaford" panose="00000500000000000000" pitchFamily="2" charset="0"/>
              <a:sym typeface="Lato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563" y="1017450"/>
            <a:ext cx="7150876" cy="3821249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311697" y="153145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Seaford" panose="00000500000000000000" pitchFamily="2" charset="0"/>
                <a:sym typeface="Lato"/>
              </a:rPr>
              <a:t>Shiny Application: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250" y="1017450"/>
            <a:ext cx="7153495" cy="3821252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311697" y="183881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Seaford" panose="00000500000000000000" pitchFamily="2" charset="0"/>
                <a:sym typeface="Lato"/>
              </a:rPr>
              <a:t>Shiny Application:</a:t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250" y="1017450"/>
            <a:ext cx="7153495" cy="3821252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509550" y="1535294"/>
            <a:ext cx="8124900" cy="17982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Recommendations to Reduce Energy Usage: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xfrm>
            <a:off x="239150" y="101075"/>
            <a:ext cx="890485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Seaford" panose="00000500000000000000" pitchFamily="2" charset="0"/>
              </a:rPr>
              <a:t>Solar panels reduce energy usage significantly:</a:t>
            </a:r>
            <a:endParaRPr sz="2800" b="1">
              <a:latin typeface="Seaford" panose="00000500000000000000" pitchFamily="2" charset="0"/>
            </a:endParaRPr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50" y="727175"/>
            <a:ext cx="8665700" cy="4162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/>
          <p:nvPr/>
        </p:nvSpPr>
        <p:spPr>
          <a:xfrm>
            <a:off x="5742100" y="2674950"/>
            <a:ext cx="353100" cy="891000"/>
          </a:xfrm>
          <a:prstGeom prst="downArrow">
            <a:avLst>
              <a:gd name="adj1" fmla="val 50000"/>
              <a:gd name="adj2" fmla="val 79963"/>
            </a:avLst>
          </a:prstGeom>
          <a:solidFill>
            <a:schemeClr val="lt1"/>
          </a:solidFill>
          <a:ln w="19050" cap="flat" cmpd="sng">
            <a:solidFill>
              <a:srgbClr val="A72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145150" y="162750"/>
            <a:ext cx="90624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SzPts val="990"/>
            </a:pPr>
            <a:r>
              <a:rPr lang="en-US" sz="2000" b="1">
                <a:latin typeface="Seaford"/>
              </a:rPr>
              <a:t>Recommended Orientation of Solar Panels –&gt; Southeast:</a:t>
            </a:r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33" y="785547"/>
            <a:ext cx="8191180" cy="403810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/>
          <p:nvPr/>
        </p:nvSpPr>
        <p:spPr>
          <a:xfrm>
            <a:off x="7164319" y="3602152"/>
            <a:ext cx="1026952" cy="1120500"/>
          </a:xfrm>
          <a:prstGeom prst="rect">
            <a:avLst/>
          </a:prstGeom>
          <a:noFill/>
          <a:ln w="19050" cap="flat" cmpd="sng">
            <a:solidFill>
              <a:srgbClr val="A729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slide with a diamond frame at center with a phrase Thank you over a teal colored corporate background.">
            <a:extLst>
              <a:ext uri="{FF2B5EF4-FFF2-40B4-BE49-F238E27FC236}">
                <a16:creationId xmlns:a16="http://schemas.microsoft.com/office/drawing/2014/main" id="{9AF1B3F5-9AD8-CC6E-B8B7-C2D79EF81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" y="-1452"/>
            <a:ext cx="9165308" cy="5156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Application>Microsoft Office PowerPoint</Application>
  <PresentationFormat>On-screen Show (16:9)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Droplet</vt:lpstr>
      <vt:lpstr>Energy Consumption Analysis</vt:lpstr>
      <vt:lpstr>Data EXPLORATION:</vt:lpstr>
      <vt:lpstr>Project Goal</vt:lpstr>
      <vt:lpstr>Map of City Energy Usage:</vt:lpstr>
      <vt:lpstr>variables Having most impact on energy usage:</vt:lpstr>
      <vt:lpstr>Energy Usage Pattern – Historical Data:</vt:lpstr>
      <vt:lpstr>Number of Bedrooms &amp; Energy:</vt:lpstr>
      <vt:lpstr>Type of insulation &amp; Energy:</vt:lpstr>
      <vt:lpstr>Type of Lightning &amp; Energy:</vt:lpstr>
      <vt:lpstr>Type of house walls &amp; Energy:</vt:lpstr>
      <vt:lpstr>Energy Consumption based on Roof Material:</vt:lpstr>
      <vt:lpstr>Average Energy Consumption v/s Income:</vt:lpstr>
      <vt:lpstr>Model Selected: Linear Regression</vt:lpstr>
      <vt:lpstr>Model : Decision Tree</vt:lpstr>
      <vt:lpstr>Predicted Total Energy Usage:</vt:lpstr>
      <vt:lpstr>Shiny Application:</vt:lpstr>
      <vt:lpstr>Shiny Application:</vt:lpstr>
      <vt:lpstr>Shiny Application:</vt:lpstr>
      <vt:lpstr>Recommendations to Reduce Energy Usage:</vt:lpstr>
      <vt:lpstr>Solar panels reduce energy usage significantly:</vt:lpstr>
      <vt:lpstr>Recommended Orientation of Solar Panels –&gt; Southeast: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modified xsi:type="dcterms:W3CDTF">2024-12-06T03:13:43Z</dcterms:modified>
</cp:coreProperties>
</file>